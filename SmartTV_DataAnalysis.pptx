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4" r:id="rId4"/>
    <p:sldId id="260" r:id="rId5"/>
    <p:sldId id="261" r:id="rId6"/>
    <p:sldId id="262" r:id="rId7"/>
    <p:sldId id="263" r:id="rId8"/>
    <p:sldId id="267" r:id="rId9"/>
    <p:sldId id="265" r:id="rId10"/>
    <p:sldId id="268" r:id="rId11"/>
    <p:sldId id="269" r:id="rId12"/>
    <p:sldId id="271" r:id="rId13"/>
    <p:sldId id="286" r:id="rId14"/>
    <p:sldId id="270" r:id="rId15"/>
    <p:sldId id="273" r:id="rId16"/>
    <p:sldId id="272" r:id="rId17"/>
    <p:sldId id="287" r:id="rId18"/>
    <p:sldId id="274" r:id="rId19"/>
    <p:sldId id="275" r:id="rId20"/>
    <p:sldId id="288" r:id="rId21"/>
    <p:sldId id="285" r:id="rId22"/>
    <p:sldId id="289" r:id="rId23"/>
    <p:sldId id="259" r:id="rId24"/>
  </p:sldIdLst>
  <p:sldSz cx="12192000" cy="6858000"/>
  <p:notesSz cx="6858000" cy="9144000"/>
  <p:embeddedFontLst>
    <p:embeddedFont>
      <p:font typeface="Libre Baskerville" panose="020B0604020202020204" charset="0"/>
      <p:regular r:id="rId26"/>
      <p:bold r:id="rId27"/>
      <p:italic r:id="rId28"/>
    </p:embeddedFont>
    <p:embeddedFont>
      <p:font typeface="Tahoma" panose="020B0604030504040204" pitchFamily="34" charset="0"/>
      <p:regular r:id="rId29"/>
      <p:bold r:id="rId30"/>
    </p:embeddedFont>
    <p:embeddedFont>
      <p:font typeface="Arial Unicode MS" panose="020B0604020202020204" pitchFamily="34" charset="-128"/>
      <p:regular r:id="rId31"/>
    </p:embeddedFont>
    <p:embeddedFont>
      <p:font typeface="Bahnschrift Light Condensed" panose="020B0502040204020203" pitchFamily="34" charset="0"/>
      <p:regular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Bahnschrift Light" panose="020B0502040204020203" pitchFamily="34" charset="0"/>
      <p:regular r:id="rId37"/>
    </p:embeddedFont>
    <p:embeddedFont>
      <p:font typeface="Algerian" panose="04020705040A02060702" pitchFamily="82" charset="0"/>
      <p:regular r:id="rId38"/>
    </p:embeddedFont>
    <p:embeddedFont>
      <p:font typeface="Castellar" panose="020A0402060406010301" pitchFamily="18" charset="0"/>
      <p:regular r:id="rId39"/>
    </p:embeddedFont>
    <p:embeddedFont>
      <p:font typeface="Eras Medium ITC" panose="020B0602030504020804" pitchFamily="34" charset="0"/>
      <p:regular r:id="rId40"/>
    </p:embeddedFont>
    <p:embeddedFont>
      <p:font typeface="Inter" panose="020B0604020202020204" charset="0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96118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2782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2294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9350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747320" y="3956365"/>
            <a:ext cx="852836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ras Medium ITC" panose="020B0602030504020804" pitchFamily="34" charset="0"/>
                <a:cs typeface="Times New Roman" panose="02020603050405020304" pitchFamily="18" charset="0"/>
              </a:rPr>
              <a:t>Smart TV Market Insights Through Web Scraping and </a:t>
            </a:r>
          </a:p>
          <a:p>
            <a:pPr lvl="0" algn="ctr"/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ras Medium ITC" panose="020B0602030504020804" pitchFamily="34" charset="0"/>
                <a:cs typeface="Times New Roman" panose="02020603050405020304" pitchFamily="18" charset="0"/>
              </a:rPr>
              <a:t>Data Analysis</a:t>
            </a:r>
          </a:p>
          <a:p>
            <a:pPr lvl="0" algn="ctr"/>
            <a:endParaRPr lang="en-US" i="1" dirty="0">
              <a:latin typeface="Eras Medium ITC" panose="020B0602030504020804" pitchFamily="34" charset="0"/>
              <a:cs typeface="Times New Roman" panose="02020603050405020304" pitchFamily="18" charset="0"/>
            </a:endParaRPr>
          </a:p>
          <a:p>
            <a:pPr lvl="0" algn="ctr"/>
            <a:r>
              <a:rPr lang="en-GB" sz="1600" b="1" i="1" dirty="0">
                <a:solidFill>
                  <a:srgbClr val="CC0000"/>
                </a:solidFill>
                <a:latin typeface="Eras Medium ITC" panose="020B0602030504020804" pitchFamily="34" charset="0"/>
                <a:cs typeface="Times New Roman" panose="02020603050405020304" pitchFamily="18" charset="0"/>
              </a:rPr>
              <a:t>A Comprehensive Analysis of Smart TV Market Dynamics Based on Flipkart Data</a:t>
            </a:r>
            <a:endParaRPr lang="en-US" sz="1600" b="1" i="1" dirty="0">
              <a:solidFill>
                <a:srgbClr val="CC0000"/>
              </a:solidFill>
              <a:latin typeface="Eras Medium ITC" panose="020B0602030504020804" pitchFamily="34" charset="0"/>
              <a:cs typeface="Times New Roman" panose="02020603050405020304" pitchFamily="18" charset="0"/>
            </a:endParaRPr>
          </a:p>
          <a:p>
            <a:endParaRPr lang="en-IN" dirty="0">
              <a:latin typeface="Eras Medium ITC" panose="020B06020305040208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0669" y="5411450"/>
            <a:ext cx="30057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r>
              <a:rPr lang="en-US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Manasa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Siripurapu.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013C385-B5D0-4597-AD67-99530B1A77C6}"/>
              </a:ext>
            </a:extLst>
          </p:cNvPr>
          <p:cNvSpPr txBox="1"/>
          <p:nvPr/>
        </p:nvSpPr>
        <p:spPr>
          <a:xfrm>
            <a:off x="557214" y="521314"/>
            <a:ext cx="5472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C72A81C-8F03-4C98-B7D0-CF08C17F6B32}"/>
              </a:ext>
            </a:extLst>
          </p:cNvPr>
          <p:cNvSpPr txBox="1"/>
          <p:nvPr/>
        </p:nvSpPr>
        <p:spPr>
          <a:xfrm>
            <a:off x="412359" y="1457355"/>
            <a:ext cx="50291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TV market in India is highly competitive, with many brands offering models across different sizes, technologies, and price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struggle to find the best value for their budget due to too many options and inconsistent feature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business analytics perspective, it’s important to understand how features like display type, resolution, and sound output influence pricing and customer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satisfaction.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analyses the Smart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 data from Flipkart to uncover market trends, feature impact, and consumer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preferences.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is to provide data-driven insights that can help both customers and businesses make informed decisions.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="" xmlns:a16="http://schemas.microsoft.com/office/drawing/2014/main" id="{F1C5D748-5A2F-471D-8315-626569D64DF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3216" b="3216"/>
          <a:stretch>
            <a:fillRect/>
          </a:stretch>
        </p:blipFill>
        <p:spPr>
          <a:xfrm>
            <a:off x="5878042" y="600819"/>
            <a:ext cx="6046787" cy="56578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56670AA4-D69D-41DB-B5C8-BD99A21F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5463"/>
            <a:ext cx="3652319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C00000"/>
                </a:solidFill>
                <a:latin typeface="Castellar" panose="020A0402060406010301" pitchFamily="18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6126427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5C2518-7E99-4973-BB37-1F56F1AD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3" y="457200"/>
            <a:ext cx="5578475" cy="64732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Bahnschrift Light Condensed" panose="020B0502040204020203" pitchFamily="34" charset="0"/>
              </a:rPr>
              <a:t>Objective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DB733D9-FB34-44F9-A601-1F16A1973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3" y="1262393"/>
            <a:ext cx="5681882" cy="4930178"/>
          </a:xfrm>
        </p:spPr>
        <p:txBody>
          <a:bodyPr>
            <a:noAutofit/>
          </a:bodyPr>
          <a:lstStyle/>
          <a:p>
            <a:pPr indent="-34290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extract, clean, and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analyse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TV product data from Flipkart using Python-based web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scraping.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how different product features (like display type, resolution, and sound output) influence price and customer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ratings.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dominant display technologies and examine price distribution across various market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segments.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uncover trends in product launches and sound configurations to understand the evolving Smart TV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landscape.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data-driven insights that help consumers make better purchase decisions and guide businesses in understanding feature–price relationships and customer expectations.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Data Analysis That Help Decision-Makers ...">
            <a:extLst>
              <a:ext uri="{FF2B5EF4-FFF2-40B4-BE49-F238E27FC236}">
                <a16:creationId xmlns="" xmlns:a16="http://schemas.microsoft.com/office/drawing/2014/main" id="{5C00E767-7BE0-4D5B-88C4-C83A19FA2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712" y="1500190"/>
            <a:ext cx="3538537" cy="357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50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558A060D-F521-4368-97B7-B486E99EC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lgerian" panose="04020705040A02060702" pitchFamily="82" charset="0"/>
              </a:rPr>
              <a:t/>
            </a:r>
            <a:br>
              <a:rPr lang="en-US" sz="3600" b="1" dirty="0">
                <a:solidFill>
                  <a:srgbClr val="C00000"/>
                </a:solidFill>
                <a:latin typeface="Algerian" panose="04020705040A02060702" pitchFamily="82" charset="0"/>
              </a:rPr>
            </a:br>
            <a:r>
              <a:rPr lang="en-US" sz="3600" b="1" dirty="0">
                <a:solidFill>
                  <a:srgbClr val="C00000"/>
                </a:solidFill>
                <a:latin typeface="Bahnschrift Light Condensed" panose="020B0502040204020203" pitchFamily="34" charset="0"/>
              </a:rPr>
              <a:t>Web Scraping Methodology: </a:t>
            </a:r>
            <a:r>
              <a:rPr lang="en-US" sz="3600" b="1" dirty="0" smtClean="0">
                <a:solidFill>
                  <a:srgbClr val="C00000"/>
                </a:solidFill>
                <a:latin typeface="Bahnschrift Light Condensed" panose="020B0502040204020203" pitchFamily="34" charset="0"/>
              </a:rPr>
              <a:t>Process Overview</a:t>
            </a:r>
            <a:r>
              <a:rPr lang="en-US" sz="3600" b="1" dirty="0">
                <a:solidFill>
                  <a:srgbClr val="C00000"/>
                </a:solidFill>
                <a:latin typeface="Algerian" panose="04020705040A02060702" pitchFamily="82" charset="0"/>
              </a:rPr>
              <a:t/>
            </a:r>
            <a:br>
              <a:rPr lang="en-US" sz="3600" b="1" dirty="0">
                <a:solidFill>
                  <a:srgbClr val="C00000"/>
                </a:solidFill>
                <a:latin typeface="Algerian" panose="04020705040A02060702" pitchFamily="82" charset="0"/>
              </a:rPr>
            </a:br>
            <a:endParaRPr lang="en-US" sz="3600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CAF945FE-BCCB-4F13-B88A-4F16ABF53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9"/>
            <a:ext cx="7083582" cy="413974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Website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Flipkart Smart TV Product Listings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requests, BeautifulSoup → for extracting and parsing web data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pandas, numpy → for structuring and cleaning data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 → for regular expressions and text cleaning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 Used:</a:t>
            </a:r>
          </a:p>
          <a:p>
            <a:pPr marL="11430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Programming Language: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11430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Tools: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</a:t>
            </a:r>
          </a:p>
          <a:p>
            <a:pPr marL="11430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Method: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Web Scraping with HTML 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Parsing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93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3A57B8-C85C-4962-903C-512F79773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9255"/>
            <a:ext cx="10515601" cy="56356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Bahnschrift Light Condensed" panose="020B0502040204020203" pitchFamily="34" charset="0"/>
              </a:rPr>
              <a:t>PROCESS FOLLOWED: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78C9B24-5EE4-41EF-A79C-B35C004C5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89432"/>
            <a:ext cx="10515600" cy="524272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             </a:t>
            </a:r>
          </a:p>
          <a:p>
            <a:pPr marL="114300" indent="0">
              <a:buNone/>
            </a:pPr>
            <a:r>
              <a:rPr lang="en-US" dirty="0"/>
              <a:t>       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="" xmlns:a16="http://schemas.microsoft.com/office/drawing/2014/main" id="{65D631FC-EA51-4084-ADFB-B2C96AA67E09}"/>
              </a:ext>
            </a:extLst>
          </p:cNvPr>
          <p:cNvSpPr/>
          <p:nvPr/>
        </p:nvSpPr>
        <p:spPr>
          <a:xfrm>
            <a:off x="838200" y="1154906"/>
            <a:ext cx="1057275" cy="74295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ADF3494-CDD9-424B-8C8C-790B4E4257DB}"/>
              </a:ext>
            </a:extLst>
          </p:cNvPr>
          <p:cNvSpPr txBox="1"/>
          <p:nvPr/>
        </p:nvSpPr>
        <p:spPr>
          <a:xfrm>
            <a:off x="2174081" y="1172438"/>
            <a:ext cx="78438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multiple Smart TV listing pages 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Flipkart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capture a wide variety of brands and models.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="" xmlns:a16="http://schemas.microsoft.com/office/drawing/2014/main" id="{2A32C535-666D-4071-902C-8CC3AF0F3083}"/>
              </a:ext>
            </a:extLst>
          </p:cNvPr>
          <p:cNvSpPr/>
          <p:nvPr/>
        </p:nvSpPr>
        <p:spPr>
          <a:xfrm>
            <a:off x="838199" y="2145810"/>
            <a:ext cx="1057275" cy="74295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="" xmlns:a16="http://schemas.microsoft.com/office/drawing/2014/main" id="{8A627037-D079-4CB0-BC0F-5868E67C1FC4}"/>
              </a:ext>
            </a:extLst>
          </p:cNvPr>
          <p:cNvSpPr/>
          <p:nvPr/>
        </p:nvSpPr>
        <p:spPr>
          <a:xfrm>
            <a:off x="838199" y="3136714"/>
            <a:ext cx="1057275" cy="74295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="" xmlns:a16="http://schemas.microsoft.com/office/drawing/2014/main" id="{61C12B22-79C4-44CC-A4E7-74F434D26B5C}"/>
              </a:ext>
            </a:extLst>
          </p:cNvPr>
          <p:cNvSpPr/>
          <p:nvPr/>
        </p:nvSpPr>
        <p:spPr>
          <a:xfrm>
            <a:off x="838199" y="4131166"/>
            <a:ext cx="1057275" cy="74295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="" xmlns:a16="http://schemas.microsoft.com/office/drawing/2014/main" id="{E84B98AB-F05D-4258-9432-3A17FF6F9B1E}"/>
              </a:ext>
            </a:extLst>
          </p:cNvPr>
          <p:cNvSpPr/>
          <p:nvPr/>
        </p:nvSpPr>
        <p:spPr>
          <a:xfrm>
            <a:off x="847723" y="5125618"/>
            <a:ext cx="1057275" cy="74295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5CC22643-64A0-45D4-A933-FC932CB40394}"/>
              </a:ext>
            </a:extLst>
          </p:cNvPr>
          <p:cNvSpPr txBox="1"/>
          <p:nvPr/>
        </p:nvSpPr>
        <p:spPr>
          <a:xfrm>
            <a:off x="2174081" y="2028554"/>
            <a:ext cx="78438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key product attributes including:</a:t>
            </a:r>
          </a:p>
          <a:p>
            <a:pPr algn="just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Brand, Product Name, Display Size, Display Type, Sound Output, Warranty, Resolution, Original Price, Discounted Price, and Ratings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054132A-496E-4257-9B32-2EB31CD5A2D2}"/>
              </a:ext>
            </a:extLst>
          </p:cNvPr>
          <p:cNvSpPr txBox="1"/>
          <p:nvPr/>
        </p:nvSpPr>
        <p:spPr>
          <a:xfrm>
            <a:off x="2174081" y="3171778"/>
            <a:ext cx="7843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required data by identifying patterns.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B91C7BF-01F1-4D0D-B5D7-107773E8F1D7}"/>
              </a:ext>
            </a:extLst>
          </p:cNvPr>
          <p:cNvSpPr txBox="1"/>
          <p:nvPr/>
        </p:nvSpPr>
        <p:spPr>
          <a:xfrm>
            <a:off x="2174081" y="3994809"/>
            <a:ext cx="78438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structured DataFrame using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handled missing values, and converted data into appropriate formats (int, float, object)..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6656BD2-7B1B-42FF-90A0-A1EA54A51124}"/>
              </a:ext>
            </a:extLst>
          </p:cNvPr>
          <p:cNvSpPr txBox="1"/>
          <p:nvPr/>
        </p:nvSpPr>
        <p:spPr>
          <a:xfrm>
            <a:off x="2174081" y="5125618"/>
            <a:ext cx="78438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Combined all individual scraped pages into a single, cleaned dataset, ready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and visualization.</a:t>
            </a:r>
          </a:p>
        </p:txBody>
      </p:sp>
    </p:spTree>
    <p:extLst>
      <p:ext uri="{BB962C8B-B14F-4D97-AF65-F5344CB8AC3E}">
        <p14:creationId xmlns:p14="http://schemas.microsoft.com/office/powerpoint/2010/main" val="78841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="" xmlns:a16="http://schemas.microsoft.com/office/drawing/2014/main" id="{2336D94F-30D9-4D0F-BE60-350358376FB6}"/>
              </a:ext>
            </a:extLst>
          </p:cNvPr>
          <p:cNvSpPr/>
          <p:nvPr/>
        </p:nvSpPr>
        <p:spPr>
          <a:xfrm>
            <a:off x="483968" y="416825"/>
            <a:ext cx="1147837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Bahnschrift Light Condensed" panose="020B0502040204020203" pitchFamily="34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Data Summary: Scope of the Collected Dataset</a:t>
            </a:r>
            <a:endParaRPr lang="en-US" sz="3600" dirty="0">
              <a:solidFill>
                <a:srgbClr val="C00000"/>
              </a:solidFill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="" xmlns:a16="http://schemas.microsoft.com/office/drawing/2014/main" id="{707A36DF-627F-4698-99DF-50537A51AF31}"/>
              </a:ext>
            </a:extLst>
          </p:cNvPr>
          <p:cNvSpPr/>
          <p:nvPr/>
        </p:nvSpPr>
        <p:spPr>
          <a:xfrm>
            <a:off x="669956" y="2206109"/>
            <a:ext cx="23447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616</a:t>
            </a:r>
            <a:endParaRPr lang="en-US" sz="5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="" xmlns:a16="http://schemas.microsoft.com/office/drawing/2014/main" id="{E891DF90-1F8C-466B-B797-B62F802E0A42}"/>
              </a:ext>
            </a:extLst>
          </p:cNvPr>
          <p:cNvSpPr/>
          <p:nvPr/>
        </p:nvSpPr>
        <p:spPr>
          <a:xfrm>
            <a:off x="677722" y="3237905"/>
            <a:ext cx="26408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Total Records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="" xmlns:a16="http://schemas.microsoft.com/office/drawing/2014/main" id="{FFAD1D30-7483-461D-B535-08F846A98E36}"/>
              </a:ext>
            </a:extLst>
          </p:cNvPr>
          <p:cNvSpPr/>
          <p:nvPr/>
        </p:nvSpPr>
        <p:spPr>
          <a:xfrm>
            <a:off x="565832" y="3802946"/>
            <a:ext cx="2993026" cy="757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Number of unique Smart TV product entries collected.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="" xmlns:a16="http://schemas.microsoft.com/office/drawing/2014/main" id="{3292D6D3-C1A8-48D7-A4A5-952496EF757F}"/>
              </a:ext>
            </a:extLst>
          </p:cNvPr>
          <p:cNvSpPr/>
          <p:nvPr/>
        </p:nvSpPr>
        <p:spPr>
          <a:xfrm>
            <a:off x="4273236" y="2206109"/>
            <a:ext cx="307054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12</a:t>
            </a:r>
            <a:endParaRPr lang="en-US" sz="5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="" xmlns:a16="http://schemas.microsoft.com/office/drawing/2014/main" id="{D55AA6CC-8E98-4855-AE7B-A2E93637F6A5}"/>
              </a:ext>
            </a:extLst>
          </p:cNvPr>
          <p:cNvSpPr/>
          <p:nvPr/>
        </p:nvSpPr>
        <p:spPr>
          <a:xfrm>
            <a:off x="4494055" y="3237905"/>
            <a:ext cx="262890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Columns Analyzed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="" xmlns:a16="http://schemas.microsoft.com/office/drawing/2014/main" id="{820322D5-DCA6-4942-AC2F-CDCC9CCD2249}"/>
              </a:ext>
            </a:extLst>
          </p:cNvPr>
          <p:cNvSpPr/>
          <p:nvPr/>
        </p:nvSpPr>
        <p:spPr>
          <a:xfrm>
            <a:off x="4144964" y="3818735"/>
            <a:ext cx="33270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Number of attributes extracted per product listing.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="" xmlns:a16="http://schemas.microsoft.com/office/drawing/2014/main" id="{35BB4215-27FE-4D51-9640-AA8DA83AF6AD}"/>
              </a:ext>
            </a:extLst>
          </p:cNvPr>
          <p:cNvSpPr/>
          <p:nvPr/>
        </p:nvSpPr>
        <p:spPr>
          <a:xfrm>
            <a:off x="8715375" y="2206109"/>
            <a:ext cx="1922448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50+</a:t>
            </a:r>
            <a:endParaRPr lang="en-US" sz="5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="" xmlns:a16="http://schemas.microsoft.com/office/drawing/2014/main" id="{0C08DF1B-200F-49EB-9A99-99E290F20384}"/>
              </a:ext>
            </a:extLst>
          </p:cNvPr>
          <p:cNvSpPr/>
          <p:nvPr/>
        </p:nvSpPr>
        <p:spPr>
          <a:xfrm>
            <a:off x="8361901" y="3237905"/>
            <a:ext cx="271958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Brands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="" xmlns:a16="http://schemas.microsoft.com/office/drawing/2014/main" id="{96C465D8-480A-4FFB-B8AE-A56E671EECAE}"/>
              </a:ext>
            </a:extLst>
          </p:cNvPr>
          <p:cNvSpPr/>
          <p:nvPr/>
        </p:nvSpPr>
        <p:spPr>
          <a:xfrm>
            <a:off x="8058152" y="3803437"/>
            <a:ext cx="33270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Diversity of manufacturers represented in the dataset.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="" xmlns:a16="http://schemas.microsoft.com/office/drawing/2014/main" id="{C623C2B9-8C06-450B-938A-5AFAC07C1E42}"/>
              </a:ext>
            </a:extLst>
          </p:cNvPr>
          <p:cNvSpPr/>
          <p:nvPr/>
        </p:nvSpPr>
        <p:spPr>
          <a:xfrm>
            <a:off x="802004" y="5263395"/>
            <a:ext cx="1084230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dataset provides a robust snapshot of the current Smart TV market, allowing for detailed comparative analysis across diverse product segments</a:t>
            </a: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="" xmlns:a16="http://schemas.microsoft.com/office/drawing/2014/main" id="{A464FA34-7E55-49A2-856F-C80677E83B14}"/>
              </a:ext>
            </a:extLst>
          </p:cNvPr>
          <p:cNvSpPr/>
          <p:nvPr/>
        </p:nvSpPr>
        <p:spPr>
          <a:xfrm>
            <a:off x="461108" y="5263395"/>
            <a:ext cx="45719" cy="805458"/>
          </a:xfrm>
          <a:prstGeom prst="rect">
            <a:avLst/>
          </a:prstGeom>
          <a:solidFill>
            <a:srgbClr val="C00000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92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="" xmlns:a16="http://schemas.microsoft.com/office/drawing/2014/main" id="{A627D02C-77D7-4225-B471-6EAD3B4EB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156" y="336550"/>
            <a:ext cx="11215687" cy="68082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Bahnschrift Light Condensed" panose="020B0502040204020203" pitchFamily="34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Key Dataset Attributes</a:t>
            </a:r>
            <a:endParaRPr lang="en-US" dirty="0"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8" name="Text 1">
            <a:extLst>
              <a:ext uri="{FF2B5EF4-FFF2-40B4-BE49-F238E27FC236}">
                <a16:creationId xmlns="" xmlns:a16="http://schemas.microsoft.com/office/drawing/2014/main" id="{4A72650A-B2BE-4EC6-A5B8-E4371433F555}"/>
              </a:ext>
            </a:extLst>
          </p:cNvPr>
          <p:cNvSpPr/>
          <p:nvPr/>
        </p:nvSpPr>
        <p:spPr>
          <a:xfrm>
            <a:off x="448271" y="1028581"/>
            <a:ext cx="12038536" cy="695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16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83E0D0C1-2D00-4472-AF89-450753167AF6}"/>
              </a:ext>
            </a:extLst>
          </p:cNvPr>
          <p:cNvSpPr txBox="1"/>
          <p:nvPr/>
        </p:nvSpPr>
        <p:spPr>
          <a:xfrm>
            <a:off x="543119" y="2035462"/>
            <a:ext cx="506320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Brand Information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Brand: Manufacturer name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Model_Id: Unique product code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Product_Name: Full commercial name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Launch_Year: Year of market introduction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178D0BBC-EFD2-4889-855A-C174716944A7}"/>
              </a:ext>
            </a:extLst>
          </p:cNvPr>
          <p:cNvSpPr txBox="1"/>
          <p:nvPr/>
        </p:nvSpPr>
        <p:spPr>
          <a:xfrm>
            <a:off x="488156" y="1082898"/>
            <a:ext cx="113540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12 extracted columns provide comprehensive data points covering core product identifiers, technical specifications, and consumer feedback.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9CEB3492-B75E-44DB-A5C7-B9731630BA34}"/>
              </a:ext>
            </a:extLst>
          </p:cNvPr>
          <p:cNvSpPr txBox="1"/>
          <p:nvPr/>
        </p:nvSpPr>
        <p:spPr>
          <a:xfrm>
            <a:off x="543119" y="4335196"/>
            <a:ext cx="506320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&amp; Consumer Metrics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Original_Price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MSRP on the platform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Discounted_Price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Current selling price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Ratings: Average user rating (out of 5)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Warranty: Duration of product warranty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="" xmlns:a16="http://schemas.microsoft.com/office/drawing/2014/main" id="{6402E84F-E9D5-4DF9-8100-5012AA726115}"/>
              </a:ext>
            </a:extLst>
          </p:cNvPr>
          <p:cNvSpPr txBox="1"/>
          <p:nvPr/>
        </p:nvSpPr>
        <p:spPr>
          <a:xfrm>
            <a:off x="5911120" y="2035462"/>
            <a:ext cx="593110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Specifications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Display_inches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Screen size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Resolution: Screen pixel density (e.g., 4K, Full HD)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Display_Type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Panel technology (e.g., LED, OLED)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Sound_Output_Watt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Speaker output power</a:t>
            </a:r>
          </a:p>
        </p:txBody>
      </p:sp>
    </p:spTree>
    <p:extLst>
      <p:ext uri="{BB962C8B-B14F-4D97-AF65-F5344CB8AC3E}">
        <p14:creationId xmlns:p14="http://schemas.microsoft.com/office/powerpoint/2010/main" val="331415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56670AA4-D69D-41DB-B5C8-BD99A21F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3051175"/>
            <a:ext cx="9320213" cy="1325563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C00000"/>
                </a:solidFill>
                <a:latin typeface="Castellar" panose="020A0402060406010301" pitchFamily="18" charset="0"/>
              </a:rPr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24888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22D6724-0CD4-47A4-97B2-272B7E730431}"/>
              </a:ext>
            </a:extLst>
          </p:cNvPr>
          <p:cNvSpPr txBox="1"/>
          <p:nvPr/>
        </p:nvSpPr>
        <p:spPr>
          <a:xfrm>
            <a:off x="357188" y="442913"/>
            <a:ext cx="110871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Bahnschrift Light Condensed" panose="020B0502040204020203" pitchFamily="34" charset="0"/>
                <a:cs typeface="Times New Roman" panose="02020603050405020304" pitchFamily="18" charset="0"/>
              </a:rPr>
              <a:t>Data Cleaning:</a:t>
            </a:r>
          </a:p>
          <a:p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based on Model ID. Cleaned price columns by removing ₹ and “,” 	     symbols and converted them to integer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blank and null values in the Warranty field with 0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from Launch_Year column (originally in YYYY-MM-DD format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across all columns for uniformity.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 smtClean="0">
                <a:solidFill>
                  <a:srgbClr val="C00000"/>
                </a:solidFill>
                <a:latin typeface="Bahnschrift Light Condensed" panose="020B0502040204020203" pitchFamily="34" charset="0"/>
                <a:cs typeface="Times New Roman" panose="02020603050405020304" pitchFamily="18" charset="0"/>
              </a:rPr>
              <a:t>Data </a:t>
            </a:r>
            <a:r>
              <a:rPr lang="en-US" sz="3600" b="1" dirty="0">
                <a:solidFill>
                  <a:srgbClr val="C00000"/>
                </a:solidFill>
                <a:latin typeface="Bahnschrift Light Condensed" panose="020B0502040204020203" pitchFamily="34" charset="0"/>
                <a:cs typeface="Times New Roman" panose="02020603050405020304" pitchFamily="18" charset="0"/>
              </a:rPr>
              <a:t>Manipulation:</a:t>
            </a:r>
          </a:p>
          <a:p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derived column Discount_Percentage to analyze price reductions.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Display_inches from integer to object type to enable feature-based grouping.</a:t>
            </a:r>
          </a:p>
        </p:txBody>
      </p:sp>
    </p:spTree>
    <p:extLst>
      <p:ext uri="{BB962C8B-B14F-4D97-AF65-F5344CB8AC3E}">
        <p14:creationId xmlns:p14="http://schemas.microsoft.com/office/powerpoint/2010/main" val="208307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56670AA4-D69D-41DB-B5C8-BD99A21F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4" y="2679983"/>
            <a:ext cx="6014708" cy="1325563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C00000"/>
                </a:solidFill>
                <a:latin typeface="Castellar" panose="020A0402060406010301" pitchFamily="18" charset="0"/>
              </a:rPr>
              <a:t>UNIVARIATE</a:t>
            </a:r>
            <a:br>
              <a:rPr lang="en-US" sz="5400" dirty="0">
                <a:solidFill>
                  <a:srgbClr val="C00000"/>
                </a:solidFill>
                <a:latin typeface="Castellar" panose="020A0402060406010301" pitchFamily="18" charset="0"/>
              </a:rPr>
            </a:br>
            <a:r>
              <a:rPr lang="en-US" sz="5400" dirty="0">
                <a:solidFill>
                  <a:srgbClr val="C00000"/>
                </a:solidFill>
                <a:latin typeface="Castellar" panose="020A0402060406010301" pitchFamily="18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8176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092" y="141598"/>
            <a:ext cx="9008198" cy="493414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rgbClr val="C00000"/>
                </a:solidFill>
                <a:latin typeface="Bahnschrift Light Condensed" panose="020B0502040204020203" pitchFamily="34" charset="0"/>
              </a:rPr>
              <a:t>Smart TV Price Distribution Across Market Segments</a:t>
            </a:r>
            <a:endParaRPr lang="en-IN" sz="2800" b="1" dirty="0">
              <a:solidFill>
                <a:srgbClr val="C00000"/>
              </a:solidFill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251010" y="950233"/>
            <a:ext cx="6835365" cy="2159257"/>
          </a:xfrm>
        </p:spPr>
        <p:txBody>
          <a:bodyPr>
            <a:normAutofit/>
          </a:bodyPr>
          <a:lstStyle/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Smart TVs fall under the Budget Segment (&lt;₹50K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457200" algn="just">
              <a:buFont typeface="+mj-lt"/>
              <a:buAutoNum type="arabicPeriod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Mid-Range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(₹50K–₹2.5L) segment forms the second largest share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(₹2.5L–₹10L) TVs have very limited presence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Luxury Segment (&gt;₹10L) is almost non-existent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82" y="950233"/>
            <a:ext cx="3843356" cy="2159257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</a:effectLst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208092" y="3424711"/>
            <a:ext cx="8347295" cy="466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800" b="1" dirty="0" smtClean="0">
                <a:solidFill>
                  <a:srgbClr val="C00000"/>
                </a:solidFill>
                <a:latin typeface="Bahnschrift Light Condensed" panose="020B0502040204020203" pitchFamily="34" charset="0"/>
              </a:rPr>
              <a:t>Display Technology Trends in the Smart TV Market</a:t>
            </a:r>
            <a:endParaRPr lang="en-IN" sz="2800" b="1" dirty="0">
              <a:solidFill>
                <a:srgbClr val="C00000"/>
              </a:solidFill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312" y="3227185"/>
            <a:ext cx="4879955" cy="2976507"/>
          </a:xfrm>
          <a:prstGeom prst="rect">
            <a:avLst/>
          </a:prstGeom>
          <a:ln w="28575">
            <a:noFill/>
          </a:ln>
        </p:spPr>
      </p:pic>
      <p:sp>
        <p:nvSpPr>
          <p:cNvPr id="13" name="Text Placeholder 3"/>
          <p:cNvSpPr txBox="1">
            <a:spLocks/>
          </p:cNvSpPr>
          <p:nvPr/>
        </p:nvSpPr>
        <p:spPr>
          <a:xfrm>
            <a:off x="308777" y="3926282"/>
            <a:ext cx="6366851" cy="256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indent="-4572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TVs dominate the market with the highest number of models.</a:t>
            </a:r>
          </a:p>
          <a:p>
            <a:pPr indent="-4572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QLED TVs form the second-largest share, mainly in mid to high price range.</a:t>
            </a:r>
          </a:p>
          <a:p>
            <a:pPr indent="-4572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LED and OLED TVs are limited but growing gradually.</a:t>
            </a:r>
          </a:p>
          <a:p>
            <a:pPr indent="-4572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QNED and Neo QLED TVs have very few models - represent latest premium technology.</a:t>
            </a:r>
          </a:p>
          <a:p>
            <a:pPr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91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200BF7E-E49B-4C92-A3B7-7345D9279B67}"/>
              </a:ext>
            </a:extLst>
          </p:cNvPr>
          <p:cNvSpPr txBox="1"/>
          <p:nvPr/>
        </p:nvSpPr>
        <p:spPr>
          <a:xfrm>
            <a:off x="476716" y="154264"/>
            <a:ext cx="10441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 smtClean="0">
                <a:solidFill>
                  <a:srgbClr val="C00000"/>
                </a:solidFill>
                <a:effectLst/>
                <a:latin typeface="Bahnschrift Light Condensed" panose="020B0502040204020203" pitchFamily="34" charset="0"/>
              </a:rPr>
              <a:t>What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Bahnschrift Light Condensed" panose="020B0502040204020203" pitchFamily="34" charset="0"/>
              </a:rPr>
              <a:t>is the distribution of Ratings across all smart TVs — and how many TVs are rated above 4.5?</a:t>
            </a:r>
            <a:endParaRPr lang="en-US" sz="2400" b="1" dirty="0">
              <a:solidFill>
                <a:srgbClr val="C00000"/>
              </a:solidFill>
              <a:latin typeface="Bahnschrift Light Condensed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AE0E1D5-739A-4D2B-8783-9CE97AB0B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278" y="788602"/>
            <a:ext cx="5377722" cy="246856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6657CA95-6A88-4859-A249-821020D9C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6716" y="788602"/>
            <a:ext cx="594746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1.Customer satisfaction for the smart TVs in this dataset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generally very high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ratings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heavily left-skewed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meaning most products receive high scores.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3.The most frequent rating is around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4.0 to 4.2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significant clusters also rated around 4.5 and 5.0.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4.Very few TVs received ratings below 3.5.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E6C24B9-DC0E-4AA7-9552-B8BB7123D521}"/>
              </a:ext>
            </a:extLst>
          </p:cNvPr>
          <p:cNvSpPr txBox="1"/>
          <p:nvPr/>
        </p:nvSpPr>
        <p:spPr>
          <a:xfrm>
            <a:off x="325960" y="3515820"/>
            <a:ext cx="115341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 smtClean="0">
                <a:solidFill>
                  <a:srgbClr val="C00000"/>
                </a:solidFill>
                <a:effectLst/>
                <a:latin typeface="Bahnschrift Light Condensed" panose="020B0502040204020203" pitchFamily="34" charset="0"/>
              </a:rPr>
              <a:t>What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Bahnschrift Light Condensed" panose="020B0502040204020203" pitchFamily="34" charset="0"/>
              </a:rPr>
              <a:t>is the overall customer satisfaction level based on ratings?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9CA783EF-DC65-4D09-B85A-82676C66B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009" y="3771044"/>
            <a:ext cx="4796991" cy="23860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0CDDE2-382A-4A33-B4D6-124A9AA30972}"/>
              </a:ext>
            </a:extLst>
          </p:cNvPr>
          <p:cNvSpPr txBox="1"/>
          <p:nvPr/>
        </p:nvSpPr>
        <p:spPr>
          <a:xfrm>
            <a:off x="476716" y="4236139"/>
            <a:ext cx="61009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histogram confirms high customer satisfaction, with the vast majority of ratings falling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3.8 and 5.0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 TVs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dataset fall into the top-performing category with a rating above 4.5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03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="" xmlns:a16="http://schemas.microsoft.com/office/drawing/2014/main" id="{56670AA4-D69D-41DB-B5C8-BD99A21F9F68}"/>
              </a:ext>
            </a:extLst>
          </p:cNvPr>
          <p:cNvSpPr txBox="1">
            <a:spLocks/>
          </p:cNvSpPr>
          <p:nvPr/>
        </p:nvSpPr>
        <p:spPr>
          <a:xfrm>
            <a:off x="757284" y="2679983"/>
            <a:ext cx="413158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5400" dirty="0">
                <a:solidFill>
                  <a:srgbClr val="C00000"/>
                </a:solidFill>
                <a:latin typeface="Castellar" panose="020A0402060406010301" pitchFamily="18" charset="0"/>
              </a:rPr>
              <a:t>BiVARIATE</a:t>
            </a:r>
            <a:br>
              <a:rPr lang="en-US" sz="5400" dirty="0">
                <a:solidFill>
                  <a:srgbClr val="C00000"/>
                </a:solidFill>
                <a:latin typeface="Castellar" panose="020A0402060406010301" pitchFamily="18" charset="0"/>
              </a:rPr>
            </a:br>
            <a:r>
              <a:rPr lang="en-US" sz="5400" dirty="0">
                <a:solidFill>
                  <a:srgbClr val="C00000"/>
                </a:solidFill>
                <a:latin typeface="Castellar" panose="020A0402060406010301" pitchFamily="18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96007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0489" y="1586754"/>
            <a:ext cx="4882002" cy="3811588"/>
          </a:xfrm>
        </p:spPr>
        <p:txBody>
          <a:bodyPr/>
          <a:lstStyle/>
          <a:p>
            <a:pPr algn="just"/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GB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TVs were most expensive around 2017–2018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Noticeable drop in prices after 2018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 stayed stable between 2020 and 2021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price increase in 2024 model.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037" y="1360417"/>
            <a:ext cx="5341544" cy="3908699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53910" y="534154"/>
            <a:ext cx="6790097" cy="497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GB" sz="3200" b="1" dirty="0">
                <a:solidFill>
                  <a:srgbClr val="C00000"/>
                </a:solidFill>
                <a:latin typeface="Bahnschrift Light Condensed" panose="020B0502040204020203" pitchFamily="34" charset="0"/>
              </a:rPr>
              <a:t>Price Trends Across Different Launch Years</a:t>
            </a:r>
            <a:endParaRPr lang="en-IN" sz="3200" b="1" dirty="0">
              <a:solidFill>
                <a:srgbClr val="C00000"/>
              </a:solidFill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132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153909" y="534155"/>
            <a:ext cx="8030423" cy="5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GB" sz="3200" b="1" dirty="0">
                <a:solidFill>
                  <a:srgbClr val="C00000"/>
                </a:solidFill>
                <a:latin typeface="Bahnschrift Light Condensed" panose="020B0502040204020203" pitchFamily="34" charset="0"/>
              </a:rPr>
              <a:t>Evolution of Display Quality in Smart TVs Over </a:t>
            </a:r>
            <a:r>
              <a:rPr lang="en-GB" sz="3200" b="1" dirty="0" smtClean="0">
                <a:solidFill>
                  <a:srgbClr val="C00000"/>
                </a:solidFill>
                <a:latin typeface="Bahnschrift Light Condensed" panose="020B0502040204020203" pitchFamily="34" charset="0"/>
              </a:rPr>
              <a:t>the Years</a:t>
            </a:r>
            <a:endParaRPr lang="en-IN" sz="3200" b="1" dirty="0">
              <a:solidFill>
                <a:srgbClr val="C00000"/>
              </a:solidFill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3"/>
          <p:cNvSpPr txBox="1">
            <a:spLocks/>
          </p:cNvSpPr>
          <p:nvPr/>
        </p:nvSpPr>
        <p:spPr>
          <a:xfrm>
            <a:off x="289711" y="1505374"/>
            <a:ext cx="5407105" cy="2514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/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indent="-457200"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TVs are dominant across all years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QLED TVs grew strongly after 2022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and Mini LED are slowly rising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display types like Neo QLED and QNED just started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152" y="1668336"/>
            <a:ext cx="4652904" cy="399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8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72195C9-5731-499A-A341-13529404AA05}"/>
              </a:ext>
            </a:extLst>
          </p:cNvPr>
          <p:cNvSpPr txBox="1"/>
          <p:nvPr/>
        </p:nvSpPr>
        <p:spPr>
          <a:xfrm>
            <a:off x="262296" y="150122"/>
            <a:ext cx="11830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Bahnschrift Light Condensed" panose="020B0502040204020203" pitchFamily="34" charset="0"/>
              </a:rPr>
              <a:t>How does price vary across screen sizes within each brand?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6E2663D-E082-4E5E-ABCB-1679E181B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98" y="834254"/>
            <a:ext cx="4443764" cy="21957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6403365-5001-40C0-86B9-7EDCDD8EFA14}"/>
              </a:ext>
            </a:extLst>
          </p:cNvPr>
          <p:cNvSpPr txBox="1"/>
          <p:nvPr/>
        </p:nvSpPr>
        <p:spPr>
          <a:xfrm>
            <a:off x="5188710" y="808736"/>
            <a:ext cx="69830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Generally, larger average screen sizes correlate with higher average prices (e.g., Acer).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correlation isn't perfect, as Admiral offers a 43.0" size for the lowest price in the group.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isn't determined by size alone; BPL's small 39.25" TV costs more than Admiral's (43.0") and BESTON's (47.4").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12ED382-D043-4E50-BFAE-FF0CBCFD5892}"/>
              </a:ext>
            </a:extLst>
          </p:cNvPr>
          <p:cNvSpPr txBox="1"/>
          <p:nvPr/>
        </p:nvSpPr>
        <p:spPr>
          <a:xfrm>
            <a:off x="361885" y="3104397"/>
            <a:ext cx="96536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Bahnschrift Light Condensed" panose="020B0502040204020203" pitchFamily="34" charset="0"/>
              </a:rPr>
              <a:t>Do TVs with longer warranties receive better ratings?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8CC507E3-9E51-474B-9EFD-9EF2759D4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85" y="3589437"/>
            <a:ext cx="4105848" cy="3124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AF7D233-8B73-4A53-9DDF-D63DECE3B562}"/>
              </a:ext>
            </a:extLst>
          </p:cNvPr>
          <p:cNvSpPr txBox="1"/>
          <p:nvPr/>
        </p:nvSpPr>
        <p:spPr>
          <a:xfrm>
            <a:off x="5019962" y="3649762"/>
            <a:ext cx="69830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strongly suggests a link between warranty length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Short-warranty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TVs (&lt;3 years) have widely spread ratings (3.0-5.0) centered around 4.2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Long-warranty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TVs (≥3 years) have a higher median rating (around 4.5) and a tighter, more consistent distribution, indicating they are more reliable high-performers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3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="" xmlns:a16="http://schemas.microsoft.com/office/drawing/2014/main" id="{56670AA4-D69D-41DB-B5C8-BD99A21F9F68}"/>
              </a:ext>
            </a:extLst>
          </p:cNvPr>
          <p:cNvSpPr txBox="1">
            <a:spLocks/>
          </p:cNvSpPr>
          <p:nvPr/>
        </p:nvSpPr>
        <p:spPr>
          <a:xfrm>
            <a:off x="757284" y="2679983"/>
            <a:ext cx="604186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4900" dirty="0">
                <a:solidFill>
                  <a:srgbClr val="C00000"/>
                </a:solidFill>
                <a:latin typeface="Castellar" panose="020A0402060406010301" pitchFamily="18" charset="0"/>
              </a:rPr>
              <a:t>MuLtiVARIATE</a:t>
            </a:r>
            <a:r>
              <a:rPr lang="en-US" sz="4800" dirty="0">
                <a:solidFill>
                  <a:srgbClr val="C00000"/>
                </a:solidFill>
                <a:latin typeface="Castellar" panose="020A0402060406010301" pitchFamily="18" charset="0"/>
              </a:rPr>
              <a:t/>
            </a:r>
            <a:br>
              <a:rPr lang="en-US" sz="4800" dirty="0">
                <a:solidFill>
                  <a:srgbClr val="C00000"/>
                </a:solidFill>
                <a:latin typeface="Castellar" panose="020A0402060406010301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Castellar" panose="020A0402060406010301" pitchFamily="18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95125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582855" y="183569"/>
            <a:ext cx="11023687" cy="49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200" b="1" dirty="0">
                <a:solidFill>
                  <a:srgbClr val="C00000"/>
                </a:solidFill>
                <a:latin typeface="Bahnschrift Light Condensed" panose="020B0502040204020203" pitchFamily="34" charset="0"/>
              </a:rPr>
              <a:t>Impact of Display Type and Resolution on Price Across Top Brands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5" y="975644"/>
            <a:ext cx="7600338" cy="3431263"/>
          </a:xfrm>
          <a:prstGeom prst="rect">
            <a:avLst/>
          </a:prstGeom>
        </p:spPr>
      </p:pic>
      <p:sp>
        <p:nvSpPr>
          <p:cNvPr id="6" name="Text Placeholder 3"/>
          <p:cNvSpPr txBox="1">
            <a:spLocks/>
          </p:cNvSpPr>
          <p:nvPr/>
        </p:nvSpPr>
        <p:spPr>
          <a:xfrm>
            <a:off x="7885568" y="2537368"/>
            <a:ext cx="4037845" cy="389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LED and OLED TVs are the most expensive.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Sony and TCL have the highest-priced models overall.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and Samsung offer both budget and premium options.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brands mostly stick to LED or QLED.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QLED TVs are mid-range across brands.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type plays a major role in pricing.</a:t>
            </a:r>
          </a:p>
        </p:txBody>
      </p:sp>
    </p:spTree>
    <p:extLst>
      <p:ext uri="{BB962C8B-B14F-4D97-AF65-F5344CB8AC3E}">
        <p14:creationId xmlns:p14="http://schemas.microsoft.com/office/powerpoint/2010/main" val="138292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E9A1814-24CF-4E7D-832B-187F643C7D30}"/>
              </a:ext>
            </a:extLst>
          </p:cNvPr>
          <p:cNvSpPr txBox="1"/>
          <p:nvPr/>
        </p:nvSpPr>
        <p:spPr>
          <a:xfrm>
            <a:off x="289322" y="201551"/>
            <a:ext cx="117336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Bahnschrift Light Condensed" panose="020B0502040204020203" pitchFamily="34" charset="0"/>
              </a:rPr>
              <a:t>Which combination of brand, launch year, and rating reveals consistent customer satisfaction over time?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4F74CF1-C6C3-4847-9A13-23C3CFA1B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316" y="855116"/>
            <a:ext cx="5250436" cy="2867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95B8216-8A75-4E11-943B-A4DCE08EE08A}"/>
              </a:ext>
            </a:extLst>
          </p:cNvPr>
          <p:cNvSpPr txBox="1"/>
          <p:nvPr/>
        </p:nvSpPr>
        <p:spPr>
          <a:xfrm>
            <a:off x="289322" y="2065105"/>
            <a:ext cx="609361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algn="l"/>
            <a:r>
              <a:rPr lang="en-US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this analysis we have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taken </a:t>
            </a:r>
            <a:r>
              <a:rPr lang="en-US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first top 10 brands and year combinations in the data (primarily </a:t>
            </a:r>
            <a:r>
              <a:rPr lang="en-US" sz="2000" b="0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Adsun</a:t>
            </a:r>
            <a:r>
              <a:rPr lang="en-US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BPL, and </a:t>
            </a:r>
            <a:r>
              <a:rPr lang="en-US" sz="2000" b="0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Blaupunkt</a:t>
            </a:r>
            <a:r>
              <a:rPr lang="en-US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shows:</a:t>
            </a:r>
          </a:p>
          <a:p>
            <a:pPr algn="l"/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BPL demonstrated strong, consistent satisfaction, with its average rating holding steady around 4.2-4.3 between 2018 and 2021.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Blaupunkt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also showed high consistency in its 2021 and 2022 models, with ratings around 4.3-4.4.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Adsun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experienced a slight decline in average ratings from 2019 to 2021.</a:t>
            </a:r>
          </a:p>
        </p:txBody>
      </p:sp>
    </p:spTree>
    <p:extLst>
      <p:ext uri="{BB962C8B-B14F-4D97-AF65-F5344CB8AC3E}">
        <p14:creationId xmlns:p14="http://schemas.microsoft.com/office/powerpoint/2010/main" val="207383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AB83D65-9237-47A4-B27C-8D8068CB2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3" y="220271"/>
            <a:ext cx="10515600" cy="60359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  <a:latin typeface="Bahnschrift Light Condensed" panose="020B0502040204020203" pitchFamily="34" charset="0"/>
              </a:rPr>
              <a:t>Conclusion</a:t>
            </a:r>
            <a:endParaRPr lang="en-US" sz="3600" b="1" dirty="0">
              <a:solidFill>
                <a:srgbClr val="C00000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17EFD1E-9D3E-481C-93DF-80D704581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633" y="950615"/>
            <a:ext cx="11429245" cy="5395864"/>
          </a:xfrm>
        </p:spPr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TV market is dominated by budget LED models (&lt;₹50K).</a:t>
            </a: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technology is the main price driver — Mini LED and OLED are the most premium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models launched in 2024–2025, showing rapid market refresh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customer satisfaction (ratings between 3.8–5.0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TVs with longer warranties (3+ years) receive higher and more consistent ratings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GB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for Flipkart:</a:t>
            </a: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key features clearly (display type, sound output, warranty) to help buyers make faster decisions.</a:t>
            </a: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longer warranty offers — customers associate them with higher trust and satisfaction.</a:t>
            </a: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feature-based filters and comparison tools (e.g., “Best 4K TVs under ₹50K”) to simplify browsing.</a:t>
            </a: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mid-range QLED TVs more — they balance price and quality and have strong sales potential.</a:t>
            </a: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on new launches and feature upgrades rather than only discounts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/>
          </a:p>
          <a:p>
            <a:pPr marL="114300" indent="0" algn="just">
              <a:buNone/>
            </a:pPr>
            <a:endParaRPr lang="en-GB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64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AB83D65-9237-47A4-B27C-8D8068CB2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3" y="220271"/>
            <a:ext cx="10515600" cy="60359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  <a:latin typeface="Bahnschrift Light Condensed" panose="020B0502040204020203" pitchFamily="34" charset="0"/>
              </a:rPr>
              <a:t>Conclusion</a:t>
            </a:r>
            <a:endParaRPr lang="en-US" sz="3600" b="1" dirty="0">
              <a:solidFill>
                <a:srgbClr val="C00000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17EFD1E-9D3E-481C-93DF-80D704581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633" y="950615"/>
            <a:ext cx="11429245" cy="2317686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for Customers</a:t>
            </a: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rely only on price — check display type and warranty for long-term value.</a:t>
            </a: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TVs are great for budget buyers, while QLED or OLED are better for premium experience.</a:t>
            </a: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for 3+ year warranties — these models tend to have better reliability and user satisfaction.</a:t>
            </a:r>
          </a:p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sound output if you prefer cinematic or loud viewing experiences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09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873408" y="2997200"/>
            <a:ext cx="427801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Castellar" panose="020A0402060406010301" pitchFamily="18" charset="0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stellar" panose="020A0402060406010301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1423</Words>
  <Application>Microsoft Office PowerPoint</Application>
  <PresentationFormat>Widescreen</PresentationFormat>
  <Paragraphs>171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Libre Baskerville</vt:lpstr>
      <vt:lpstr>Arial</vt:lpstr>
      <vt:lpstr>Tahoma</vt:lpstr>
      <vt:lpstr>Arial Unicode MS</vt:lpstr>
      <vt:lpstr>Bahnschrift Light Condensed</vt:lpstr>
      <vt:lpstr>Calibri</vt:lpstr>
      <vt:lpstr>Bahnschrift Light</vt:lpstr>
      <vt:lpstr>Algerian</vt:lpstr>
      <vt:lpstr>Times New Roman</vt:lpstr>
      <vt:lpstr>Wingdings</vt:lpstr>
      <vt:lpstr>Castellar</vt:lpstr>
      <vt:lpstr>Eras Medium ITC</vt:lpstr>
      <vt:lpstr>Inter</vt:lpstr>
      <vt:lpstr>Office Theme</vt:lpstr>
      <vt:lpstr>PowerPoint Presentation</vt:lpstr>
      <vt:lpstr>PowerPoint Presentation</vt:lpstr>
      <vt:lpstr>AGENDA</vt:lpstr>
      <vt:lpstr>Objective of the Project</vt:lpstr>
      <vt:lpstr> Web Scraping Methodology: Process Overview </vt:lpstr>
      <vt:lpstr>PROCESS FOLLOWED:</vt:lpstr>
      <vt:lpstr>PowerPoint Presentation</vt:lpstr>
      <vt:lpstr>Key Dataset Attributes</vt:lpstr>
      <vt:lpstr>EXPLORATORY DATA ANALYSIS</vt:lpstr>
      <vt:lpstr>PowerPoint Presentation</vt:lpstr>
      <vt:lpstr>UNIVARIATE ANALYSIS</vt:lpstr>
      <vt:lpstr>Smart TV Price Distribution Across Market Segments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Conclusion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Microsoft account</cp:lastModifiedBy>
  <cp:revision>59</cp:revision>
  <dcterms:created xsi:type="dcterms:W3CDTF">2021-02-16T05:19:01Z</dcterms:created>
  <dcterms:modified xsi:type="dcterms:W3CDTF">2025-11-08T07:58:22Z</dcterms:modified>
</cp:coreProperties>
</file>